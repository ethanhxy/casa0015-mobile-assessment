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8"/>
  </p:normalViewPr>
  <p:slideViewPr>
    <p:cSldViewPr snapToGrid="0" snapToObjects="1">
      <p:cViewPr varScale="1">
        <p:scale>
          <a:sx n="116" d="100"/>
          <a:sy n="116" d="100"/>
        </p:scale>
        <p:origin x="6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0"/>
            <a:ext cx="11713464" cy="3017520"/>
          </a:xfrm>
          <a:prstGeom prst="rect">
            <a:avLst/>
          </a:prstGeom>
          <a:solidFill>
            <a:srgbClr val="211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1248" y="347472"/>
            <a:ext cx="3840480" cy="36576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347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CASA0015 · UCL Connected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822960"/>
            <a:ext cx="9601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Arial"/>
              </a:rPr>
              <a:t>Urban FitLog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574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AAFF"/>
                </a:solidFill>
                <a:latin typeface="Arial"/>
              </a:rPr>
              <a:t>A Connected Environments Fitness Tracker for Urban Runners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834640"/>
            <a:ext cx="4572000" cy="254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3017520"/>
            <a:ext cx="11713464" cy="3840480"/>
          </a:xfrm>
          <a:prstGeom prst="rect">
            <a:avLst/>
          </a:prstGeom>
          <a:solidFill>
            <a:srgbClr val="120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4-running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2" y="3127248"/>
            <a:ext cx="1662426" cy="3611880"/>
          </a:xfrm>
          <a:prstGeom prst="rect">
            <a:avLst/>
          </a:prstGeom>
        </p:spPr>
      </p:pic>
      <p:pic>
        <p:nvPicPr>
          <p:cNvPr id="11" name="Picture 10" descr="02-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3127248"/>
            <a:ext cx="1662426" cy="3611880"/>
          </a:xfrm>
          <a:prstGeom prst="rect">
            <a:avLst/>
          </a:prstGeom>
        </p:spPr>
      </p:pic>
      <p:pic>
        <p:nvPicPr>
          <p:cNvPr id="12" name="Picture 11" descr="05-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2" y="3127248"/>
            <a:ext cx="1662426" cy="3611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" y="6263640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77BB"/>
                </a:solidFill>
                <a:latin typeface="Arial"/>
              </a:rPr>
              <a:t>Ethan Han  ·  MSc Connected Environments  ·  UCL CASA</a:t>
            </a:r>
          </a:p>
        </p:txBody>
      </p:sp>
      <p:pic>
        <p:nvPicPr>
          <p:cNvPr id="14" name="Picture 13" descr="ucl_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63040"/>
            <a:ext cx="4572000" cy="254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" y="1691640"/>
            <a:ext cx="54864" cy="109728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6" y="1691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B35A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73736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Problem &amp;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2240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AAFF"/>
                </a:solidFill>
                <a:latin typeface="Arial"/>
              </a:rPr>
              <a:t>Connected Environments theme · App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154680"/>
            <a:ext cx="54864" cy="109728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" y="3154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B35AE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320040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Technical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3703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AAFF"/>
                </a:solidFill>
                <a:latin typeface="Arial"/>
              </a:rPr>
              <a:t>Sensors · Cloud APIs · GPS running · Key decisions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617720"/>
            <a:ext cx="54864" cy="109728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4617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B35AE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466344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Other Modules &amp; Reflection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5166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AAFF"/>
                </a:solidFill>
                <a:latin typeface="Arial"/>
              </a:rPr>
              <a:t>Strength training · Calendar · Challenges learned</a:t>
            </a:r>
          </a:p>
        </p:txBody>
      </p:sp>
      <p:pic>
        <p:nvPicPr>
          <p:cNvPr id="17" name="Picture 16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516" y="914400"/>
            <a:ext cx="1645920" cy="899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377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B35AE"/>
                </a:solidFill>
                <a:latin typeface="Arial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Problem &amp;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8476" y="4069080"/>
            <a:ext cx="4572000" cy="254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42519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AAFF"/>
                </a:solidFill>
                <a:latin typeface="Arial"/>
              </a:rPr>
              <a:t>Why urban runners need environmental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00778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34747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Problem &amp;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886968"/>
            <a:ext cx="111556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00778"/>
                </a:solidFill>
                <a:latin typeface="Arial"/>
              </a:rPr>
              <a:t>How does the urban environment affect outdoor exercise?</a:t>
            </a:r>
          </a:p>
        </p:txBody>
      </p:sp>
      <p:pic>
        <p:nvPicPr>
          <p:cNvPr id="7" name="Picture 6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" y="1828800"/>
            <a:ext cx="5029200" cy="77724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9933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Arial"/>
              </a:rPr>
              <a:t>🌫️  Is the air quality safe to run in today?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788920"/>
            <a:ext cx="5029200" cy="77724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Arial"/>
              </a:rPr>
              <a:t>🌡️  Is the temperature and humidity comfortable?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749040"/>
            <a:ext cx="5029200" cy="77724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9136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Arial"/>
              </a:rPr>
              <a:t>📍  Where did I run — and how far exactly?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709160"/>
            <a:ext cx="5029200" cy="77724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48737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Arial"/>
              </a:rPr>
              <a:t>👟  Am I running at an efficient cadence?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691640"/>
            <a:ext cx="5212080" cy="4709160"/>
          </a:xfrm>
          <a:prstGeom prst="rect">
            <a:avLst/>
          </a:prstGeom>
          <a:solidFill>
            <a:srgbClr val="211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196596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Urban runners need
real-time environmental
context —
not just pace &amp; distance.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480560"/>
            <a:ext cx="3017520" cy="254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461772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AAFF"/>
                </a:solidFill>
                <a:latin typeface="Arial"/>
              </a:rPr>
              <a:t>Urban FitLog answers this in one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00778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34747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Problem &amp;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886968"/>
            <a:ext cx="111556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00778"/>
                </a:solidFill>
                <a:latin typeface="Arial"/>
              </a:rPr>
              <a:t>Four Modules, One Connected Experience</a:t>
            </a:r>
          </a:p>
        </p:txBody>
      </p:sp>
      <p:pic>
        <p:nvPicPr>
          <p:cNvPr id="7" name="Picture 6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" y="187451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" y="193801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07568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00778"/>
                </a:solidFill>
                <a:latin typeface="Arial"/>
              </a:rPr>
              <a:t>🏋️  Strength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06039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50+ exercises · sets/reps/weight
Rest timer · templates · calorie tracking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87451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9088" y="193801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207568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00778"/>
                </a:solidFill>
                <a:latin typeface="Arial"/>
              </a:rPr>
              <a:t>🏃  Aerobic Running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606039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Live GPS map · AQI &amp; weather
Accelerometer cadence · route 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11479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" y="417829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31596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00778"/>
                </a:solidFill>
                <a:latin typeface="Arial"/>
              </a:rPr>
              <a:t>📅  Activity Calendar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846319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Monthly grid with per-day badges
Full session detail on tap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411479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19088" y="417829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431596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00778"/>
                </a:solidFill>
                <a:latin typeface="Arial"/>
              </a:rPr>
              <a:t>⚙️  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846319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BMR body data · API key management
Light/Dark theme · 中文 / EN toggle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516" y="914400"/>
            <a:ext cx="1645920" cy="899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377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B35AE"/>
                </a:solidFill>
                <a:latin typeface="Arial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Technical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8476" y="4069080"/>
            <a:ext cx="4572000" cy="254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42519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AAFF"/>
                </a:solidFill>
                <a:latin typeface="Arial"/>
              </a:rPr>
              <a:t>Sensors · Cloud APIs · GPS Map · Key Design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00778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34747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Technical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886968"/>
            <a:ext cx="111556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00778"/>
                </a:solidFill>
                <a:latin typeface="Arial"/>
              </a:rPr>
              <a:t>Three Onboard Sensors</a:t>
            </a:r>
          </a:p>
        </p:txBody>
      </p:sp>
      <p:pic>
        <p:nvPicPr>
          <p:cNvPr id="7" name="Picture 6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" y="1828800"/>
            <a:ext cx="352044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" y="1892300"/>
            <a:ext cx="3520440" cy="437134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057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Arial"/>
              </a:rPr>
              <a:t>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88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00778"/>
                </a:solidFill>
                <a:latin typeface="Arial"/>
              </a:rPr>
              <a:t>GPS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2918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35AE"/>
                </a:solidFill>
                <a:latin typeface="Arial"/>
              </a:rPr>
              <a:t>geolocator 13.x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749040"/>
            <a:ext cx="3108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Real-time position stream
Route tracking &amp; distance
Pace calculation (min/km)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0287" y="1828800"/>
            <a:ext cx="352044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90287" y="1892300"/>
            <a:ext cx="3520440" cy="437134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3167" y="2057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Arial"/>
              </a:rPr>
              <a:t>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7" y="2788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00778"/>
                </a:solidFill>
                <a:latin typeface="Arial"/>
              </a:rPr>
              <a:t>Accelerometer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7" y="32918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35AE"/>
                </a:solidFill>
                <a:latin typeface="Arial"/>
              </a:rPr>
              <a:t>sensors_plus 6.x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7" y="3749040"/>
            <a:ext cx="3108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Magnitude √(x²+y²+z²)
Peak detection algorithm
Cadence in steps/min (SPM)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9326" y="1828800"/>
            <a:ext cx="352044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39326" y="1892300"/>
            <a:ext cx="3520440" cy="437134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22206" y="2057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Arial"/>
              </a:rPr>
              <a:t>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6" y="2788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00778"/>
                </a:solidFill>
                <a:latin typeface="Arial"/>
              </a:rPr>
              <a:t>Pedometer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6" y="32918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35AE"/>
                </a:solidFill>
                <a:latin typeface="Arial"/>
              </a:rPr>
              <a:t>pedometer 4.x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6" y="3749040"/>
            <a:ext cx="3108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Cumulative step count
System-level sensor fusion
Steps delta per run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00778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34747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Technical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886968"/>
            <a:ext cx="111556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00778"/>
                </a:solidFill>
                <a:latin typeface="Arial"/>
              </a:rPr>
              <a:t>Real-Time Environmental Data from Three Cloud APIs</a:t>
            </a:r>
          </a:p>
        </p:txBody>
      </p:sp>
      <p:pic>
        <p:nvPicPr>
          <p:cNvPr id="7" name="Picture 6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" y="1874519"/>
            <a:ext cx="352044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" y="1938019"/>
            <a:ext cx="3520440" cy="226822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07568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0778"/>
                </a:solidFill>
                <a:latin typeface="Arial"/>
              </a:rPr>
              <a:t>🌡️  OpenWeatherMap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51759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Temperature · Humidity
Wind speed ·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7" y="1874519"/>
            <a:ext cx="352044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90287" y="1938019"/>
            <a:ext cx="3520440" cy="226822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3167" y="207568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0778"/>
                </a:solidFill>
                <a:latin typeface="Arial"/>
              </a:rPr>
              <a:t>🌫️  AQICN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7" y="2651759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Air Quality Index (0–500)
Good / Moderate / Unhealthy / Very Unhealthy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6" y="1874519"/>
            <a:ext cx="352044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39326" y="1938019"/>
            <a:ext cx="3520440" cy="226822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6" y="207568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0778"/>
                </a:solidFill>
                <a:latin typeface="Arial"/>
              </a:rPr>
              <a:t>🗺️  CARTO / OSM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6" y="2651759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OpenStreetMap map tiles
Voyager style, 4 subdomains, HTTPS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4348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00778"/>
                </a:solidFill>
                <a:latin typeface="Arial"/>
              </a:rPr>
              <a:t>Data flow:  GPS location  →  HTTP request  →  JSON parse  →  UI render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983480"/>
            <a:ext cx="2633472" cy="6583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98348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Good  0–50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0168" y="4983480"/>
            <a:ext cx="2633472" cy="65836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30168" y="498348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Moderate  51–100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4983480"/>
            <a:ext cx="2633472" cy="65836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498348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Unhealthy  101–150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08008" y="4983480"/>
            <a:ext cx="2633472" cy="658368"/>
          </a:xfrm>
          <a:prstGeom prst="rect">
            <a:avLst/>
          </a:prstGeom>
          <a:solidFill>
            <a:srgbClr val="920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08008" y="498348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Very Unhealthy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00778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34747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Technical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886968"/>
            <a:ext cx="111556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00778"/>
                </a:solidFill>
                <a:latin typeface="Arial"/>
              </a:rPr>
              <a:t>Live GPS Running View</a:t>
            </a:r>
          </a:p>
        </p:txBody>
      </p:sp>
      <p:pic>
        <p:nvPicPr>
          <p:cNvPr id="7" name="Picture 6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8288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0778"/>
                </a:solidFill>
                <a:latin typeface="Arial"/>
              </a:rPr>
              <a:t>🗺️ OSM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9456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CARTO Voyager tiles, loads in real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6148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0778"/>
                </a:solidFill>
                <a:latin typeface="Arial"/>
              </a:rPr>
              <a:t>🟠 GPS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2724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Orange dot follows you, updates each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9417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0778"/>
                </a:solidFill>
                <a:latin typeface="Arial"/>
              </a:rPr>
              <a:t>📏 Route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5993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Polyline drawn via Haversine distance calc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62686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0778"/>
                </a:solidFill>
                <a:latin typeface="Arial"/>
              </a:rPr>
              <a:t>📊 Stats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992624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Distance · Pace · Duration · Steps · SPM · AQI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55955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0778"/>
                </a:solidFill>
                <a:latin typeface="Arial"/>
              </a:rPr>
              <a:t>⏸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925312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Pause / Resume / Stop
_runActive flag prevents iOS freeze</a:t>
            </a:r>
          </a:p>
        </p:txBody>
      </p:sp>
      <p:pic>
        <p:nvPicPr>
          <p:cNvPr id="18" name="Picture 17" descr="04-running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00200"/>
            <a:ext cx="231477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00778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34747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Technical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886968"/>
            <a:ext cx="111556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00778"/>
                </a:solidFill>
                <a:latin typeface="Arial"/>
              </a:rPr>
              <a:t>Four Key Design Decisions</a:t>
            </a:r>
          </a:p>
        </p:txBody>
      </p:sp>
      <p:pic>
        <p:nvPicPr>
          <p:cNvPr id="7" name="Picture 6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" y="187451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" y="193801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07568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_runActive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06039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Never cancel sensor streams in handlers.
Callbacks no-op when flag is false.
→ Eliminates iOS freeze on Pause/Stop.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87451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9088" y="193801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207568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IndexedStack for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606039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FlutterMap never disposed between states.
Stack index toggles view; widget stays alive.
→ Prevents NSURLSession crash.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11479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" y="417829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31596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CARTO Tiles + ATS Exception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846319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OSM blocked on iOS by App Transport Security.
Switched to CARTO Voyager (HTTPS).
→ Tiles load on device without Xcode.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411479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19088" y="417829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431596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getCurrentPosition() + distanceFilter:0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846319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Stream alone delays first fix 5–10 s.
One-shot call fires immediately.
→ Map centres on user instantly.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516" y="914400"/>
            <a:ext cx="1645920" cy="899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377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B35AE"/>
                </a:solidFill>
                <a:latin typeface="Arial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Other Modules &amp; Reflection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8476" y="4069080"/>
            <a:ext cx="4572000" cy="254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42519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AAFF"/>
                </a:solidFill>
                <a:latin typeface="Arial"/>
              </a:rPr>
              <a:t>Strength training · Calendar · Challenges ·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00778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34747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Other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886968"/>
            <a:ext cx="111556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00778"/>
                </a:solidFill>
                <a:latin typeface="Arial"/>
              </a:rPr>
              <a:t>Strength Training  &amp;  Activity Calendar</a:t>
            </a:r>
          </a:p>
        </p:txBody>
      </p:sp>
      <p:pic>
        <p:nvPicPr>
          <p:cNvPr id="7" name="Picture 6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0778"/>
                </a:solidFill>
                <a:latin typeface="Arial"/>
              </a:rPr>
              <a:t>🏋️  Strength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50+ exercise database (bilingual zh/en)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07208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Log sets, weight, reps per exercise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282696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Rest timer with animated clock 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758184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Workout templates for quick reuse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23367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Calorie: MET × weight × 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70916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YouTube tutorial link per exercise</a:t>
            </a:r>
          </a:p>
        </p:txBody>
      </p:sp>
      <p:pic>
        <p:nvPicPr>
          <p:cNvPr id="15" name="Picture 14" descr="02-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691640"/>
            <a:ext cx="2272683" cy="4937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0664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0778"/>
                </a:solidFill>
                <a:latin typeface="Arial"/>
              </a:rPr>
              <a:t>📅  Activity 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33172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Monthly grid with per-day badges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80720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Green badge = strength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28269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Orange badge = km run that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75818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Tap any day → full session 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2336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·  Monthly: sets, volume, distance</a:t>
            </a:r>
          </a:p>
        </p:txBody>
      </p:sp>
      <p:pic>
        <p:nvPicPr>
          <p:cNvPr id="22" name="Picture 21" descr="05-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1691640"/>
            <a:ext cx="227268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00778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34747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886968"/>
            <a:ext cx="111556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00778"/>
                </a:solidFill>
                <a:latin typeface="Arial"/>
              </a:rPr>
              <a:t>Challenges &amp; What I Learned</a:t>
            </a:r>
          </a:p>
        </p:txBody>
      </p:sp>
      <p:pic>
        <p:nvPicPr>
          <p:cNvPr id="7" name="Picture 6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" y="187451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" y="193801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07568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iOS Thread Freeze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06039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Cancelling native sensor streams in button handlers
blocked the iOS main thread.
Learned: _runActive flag; only dispose() cancels.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87451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9088" y="193801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207568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Map Tiles Not Loading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606039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iOS ATS blocked HTTP tile requests on device.
OSM tiles also unreliable.
Learned: CARTO Voyager HTTPS + NSAllowsArbitraryLoads.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11479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" y="417829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31596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GPS Cold Start Delay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846319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Stream-only approach delayed first fix 5–10 s.
Map stayed blank at run start.
Learned: pair one-shot getCurrentPosition() with stream.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4114799"/>
            <a:ext cx="5257800" cy="635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19088" y="4178299"/>
            <a:ext cx="5257800" cy="1993900"/>
          </a:xfrm>
          <a:prstGeom prst="rect">
            <a:avLst/>
          </a:prstGeom>
          <a:solidFill>
            <a:srgbClr val="F5F5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431596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Single-File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846319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5 100+ lines in main.dart is manageable now.
Hard to navigate as the app grows.
Next: split into feature modules with clean interfaces.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35AE"/>
                </a:solidFill>
                <a:latin typeface="Arial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▶  Watch the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79676" y="3246120"/>
            <a:ext cx="8229600" cy="804672"/>
          </a:xfrm>
          <a:prstGeom prst="rect">
            <a:avLst/>
          </a:prstGeom>
          <a:solidFill>
            <a:srgbClr val="500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79676" y="3246120"/>
            <a:ext cx="8229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youtube.com/shorts/LG8FoDgh3UU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519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AAFF"/>
                </a:solidFill>
                <a:latin typeface="Arial"/>
              </a:rPr>
              <a:t>Environment check  ·  GPS run  ·  Strength training  ·  Calendar history</a:t>
            </a:r>
          </a:p>
        </p:txBody>
      </p:sp>
      <p:pic>
        <p:nvPicPr>
          <p:cNvPr id="8" name="Picture 7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" y="0"/>
            <a:ext cx="11713464" cy="3474720"/>
          </a:xfrm>
          <a:prstGeom prst="rect">
            <a:avLst/>
          </a:prstGeom>
          <a:solidFill>
            <a:srgbClr val="211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640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AAFF"/>
                </a:solidFill>
                <a:latin typeface="Arial"/>
              </a:rPr>
              <a:t>Urban FitLog — bridging fitness tracking with real-world
environmental data for smarter urban running.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063240"/>
            <a:ext cx="4114800" cy="25400"/>
          </a:xfrm>
          <a:prstGeom prst="rect">
            <a:avLst/>
          </a:prstGeom>
          <a:solidFill>
            <a:srgbClr val="7B3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5488" y="3474720"/>
            <a:ext cx="11713464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" y="3794760"/>
            <a:ext cx="3429000" cy="658368"/>
          </a:xfrm>
          <a:prstGeom prst="rect">
            <a:avLst/>
          </a:prstGeom>
          <a:solidFill>
            <a:srgbClr val="F5F5F7"/>
          </a:solidFill>
          <a:ln w="15240">
            <a:solidFill>
              <a:srgbClr val="7B3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379476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00778"/>
                </a:solidFill>
                <a:latin typeface="Arial"/>
              </a:rPr>
              <a:t>GPS Route Tracking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8848" y="3794760"/>
            <a:ext cx="3429000" cy="658368"/>
          </a:xfrm>
          <a:prstGeom prst="rect">
            <a:avLst/>
          </a:prstGeom>
          <a:solidFill>
            <a:srgbClr val="F5F5F7"/>
          </a:solidFill>
          <a:ln w="15240">
            <a:solidFill>
              <a:srgbClr val="7B3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379476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00778"/>
                </a:solidFill>
                <a:latin typeface="Arial"/>
              </a:rPr>
              <a:t>Live AQI Monitoring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3794760"/>
            <a:ext cx="3429000" cy="658368"/>
          </a:xfrm>
          <a:prstGeom prst="rect">
            <a:avLst/>
          </a:prstGeom>
          <a:solidFill>
            <a:srgbClr val="F5F5F7"/>
          </a:solidFill>
          <a:ln w="15240">
            <a:solidFill>
              <a:srgbClr val="7B3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48" y="379476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00778"/>
                </a:solidFill>
                <a:latin typeface="Arial"/>
              </a:rPr>
              <a:t>Real-Time Weather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663439"/>
            <a:ext cx="3429000" cy="658368"/>
          </a:xfrm>
          <a:prstGeom prst="rect">
            <a:avLst/>
          </a:prstGeom>
          <a:solidFill>
            <a:srgbClr val="F5F5F7"/>
          </a:solidFill>
          <a:ln w="15240">
            <a:solidFill>
              <a:srgbClr val="7B3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663439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00778"/>
                </a:solidFill>
                <a:latin typeface="Arial"/>
              </a:rPr>
              <a:t>Accelerometer Cadence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8848" y="4663439"/>
            <a:ext cx="3429000" cy="658368"/>
          </a:xfrm>
          <a:prstGeom prst="rect">
            <a:avLst/>
          </a:prstGeom>
          <a:solidFill>
            <a:srgbClr val="F5F5F7"/>
          </a:solidFill>
          <a:ln w="15240">
            <a:solidFill>
              <a:srgbClr val="7B3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4663439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00778"/>
                </a:solidFill>
                <a:latin typeface="Arial"/>
              </a:rPr>
              <a:t>Strength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4663439"/>
            <a:ext cx="3429000" cy="658368"/>
          </a:xfrm>
          <a:prstGeom prst="rect">
            <a:avLst/>
          </a:prstGeom>
          <a:solidFill>
            <a:srgbClr val="F5F5F7"/>
          </a:solidFill>
          <a:ln w="15240">
            <a:solidFill>
              <a:srgbClr val="7B3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4663439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00778"/>
                </a:solidFill>
                <a:latin typeface="Arial"/>
              </a:rPr>
              <a:t>Activity Calendar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3276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Ethan Han  ·  CASA0015  ·  UCL Bartlett  ·  github.com/EthanHXY/flutter_application_1</a:t>
            </a:r>
          </a:p>
        </p:txBody>
      </p:sp>
      <p:pic>
        <p:nvPicPr>
          <p:cNvPr id="21" name="Picture 20" descr="uc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5989320"/>
            <a:ext cx="1691640" cy="9246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890</Words>
  <Application>Microsoft Macintosh PowerPoint</Application>
  <PresentationFormat>自定义</PresentationFormat>
  <Paragraphs>136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Xuanyu Han</cp:lastModifiedBy>
  <cp:revision>1</cp:revision>
  <dcterms:created xsi:type="dcterms:W3CDTF">2013-01-27T09:14:16Z</dcterms:created>
  <dcterms:modified xsi:type="dcterms:W3CDTF">2026-04-27T17:46:00Z</dcterms:modified>
  <cp:category/>
</cp:coreProperties>
</file>